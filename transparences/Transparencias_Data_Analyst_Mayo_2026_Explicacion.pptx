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Apertura: explicar que la presentación acompaña a los notebooks y prácticas.
Enfatizar que cada bloque tiene una lógica común: concepto, demostración, práctica y conclusiones.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diapositiva para explicar la progresión lógica del módulo.
Cada sesión empieza con una pregunta de negocio y termina con una conclusión documentada.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marco común antes de entrar en los bloques.
Subrayar que no se evalúa solo que el código funcione: también debe haber interpretación.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la idea: antes de predecir, el analista debe entender los datos.
Mencionar dataset de ventas y las librerías pandas, numpy, matplotlib.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cada paso con ejemplos del notebook.
Insistir en que limpieza y documentación son parte del análisis, no tareas secundarias.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pandas no es solo código: es una herramienta para formular preguntas al dataset.
Conectar métodos específicos del notebook: info, describe, isnull, groupby.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Introducir regresión como predicción de valores continuos: ventas, demanda, precio, duración.
Anunciar que se comparan modelos y no se elige a ciegas.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Diferenciar entrenamiento y prueba usando una analogía sencilla: estudiar vs examen.
Reforzar el riesgo de evaluar con los mismos datos de entrenamiento.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el gráfico para explicar RMSE y comparar visualmente.
Señalar que el mejor número no siempre implica la mejor solución de negocio.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Introducir clasificación como predicción de categorías.
Usar abandono de clientes como ejemplo principal.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Dedicar tiempo a esta diapositiva: es fundamental para interpretar clasificación.
Plantear costes: qué error es más grave en churn, fraude o campañas comerciales.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predict_proba ofrece probabilidades, no solo clases.
Mover el umbral conecta el modelo con una decisión de negocio.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clustering como aprendizaje no supervisado.
Ejemplo: segmentación de clientes para estrategias diferenciadas.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Seguir el flujo del notebook: StandardScaler, KMeans, perfil por medias.
Insistir en que el objetivo final es segmentar para actuar.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Silhouette ayuda a comparar k, pero no reemplaza la interpretación.
PCA sirve para visualizar, no para crear los clusters.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Subrayar que aquí el orden temporal importa.
No se puede dividir train/test de forma aleatoria como en otros problemas.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la inspección visual es el primer modelo mental de la serie.
Hacer preguntas: ¿sube? ¿se repite? ¿hay picos? ¿hay festivos o promociones?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que forecasting con ML requiere ingeniería de variables temporales.
Explicar por qué comparar contra un baseline evita sobrevalorar modelos complejos.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para recordar criterios de evaluación y entregables.
La competencia final es comunicar hallazgos, no solo ejecutar notebooks.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14300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Analyst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Mayo 2026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4871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</a:rPr>
              <a:t>Transparencias para explicar los 5 bloques · sesiones de 3 horas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" y="3035808"/>
            <a:ext cx="3657600" cy="347472"/>
          </a:xfrm>
          <a:prstGeom prst="rect">
            <a:avLst/>
          </a:prstGeom>
          <a:solidFill>
            <a:srgbClr val="1E88E5"/>
          </a:solidFill>
          <a:ln>
            <a:solidFill>
              <a:srgbClr val="1E88E5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Python · pandas · ML · clustering · forecasting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 rot="-120000">
            <a:off x="6537960" y="1051560"/>
            <a:ext cx="3200400" cy="438912"/>
          </a:xfrm>
          <a:prstGeom prst="rect">
            <a:avLst/>
          </a:prstGeom>
          <a:solidFill>
            <a:srgbClr val="1E88E5"/>
          </a:solidFill>
          <a:ln w="15240"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Python + pandas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 rot="120000">
            <a:off x="6766560" y="1636776"/>
            <a:ext cx="3200400" cy="438912"/>
          </a:xfrm>
          <a:prstGeom prst="rect">
            <a:avLst/>
          </a:prstGeom>
          <a:solidFill>
            <a:srgbClr val="00A6A6"/>
          </a:solidFill>
          <a:ln w="15240"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Regresión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 rot="-120000">
            <a:off x="6995160" y="2221992"/>
            <a:ext cx="3200400" cy="438912"/>
          </a:xfrm>
          <a:prstGeom prst="rect">
            <a:avLst/>
          </a:prstGeom>
          <a:solidFill>
            <a:srgbClr val="6C63FF"/>
          </a:solidFill>
          <a:ln w="15240"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Clasificación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 rot="120000">
            <a:off x="7223760" y="2807208"/>
            <a:ext cx="3200400" cy="438912"/>
          </a:xfrm>
          <a:prstGeom prst="rect">
            <a:avLst/>
          </a:prstGeom>
          <a:solidFill>
            <a:srgbClr val="F39C12"/>
          </a:solidFill>
          <a:ln w="15240"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Clustering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-120000">
            <a:off x="7452360" y="3392424"/>
            <a:ext cx="3200400" cy="438912"/>
          </a:xfrm>
          <a:prstGeom prst="rect">
            <a:avLst/>
          </a:prstGeom>
          <a:solidFill>
            <a:srgbClr val="2EAD4B"/>
          </a:solidFill>
          <a:ln w="15240"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Series temporales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Data Analyst · Mayo 2026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311128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 aprendizaje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96012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600200" y="7498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De análisis descriptivo a modelos predictivos y forecasting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828800" y="2377440"/>
            <a:ext cx="85039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931920" y="2377440"/>
            <a:ext cx="85039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035040" y="2377440"/>
            <a:ext cx="85039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138160" y="2377440"/>
            <a:ext cx="85039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85800" y="1874520"/>
            <a:ext cx="1143000" cy="1143000"/>
          </a:xfrm>
          <a:prstGeom prst="rect">
            <a:avLst/>
          </a:prstGeom>
          <a:solidFill>
            <a:srgbClr val="1E88E5"/>
          </a:solidFill>
          <a:ln>
            <a:solidFill>
              <a:srgbClr val="1E88E5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Explorar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88920" y="1874520"/>
            <a:ext cx="1143000" cy="1143000"/>
          </a:xfrm>
          <a:prstGeom prst="rect">
            <a:avLst/>
          </a:prstGeom>
          <a:solidFill>
            <a:srgbClr val="00A6A6"/>
          </a:solidFill>
          <a:ln>
            <a:solidFill>
              <a:srgbClr val="00A6A6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Predecir valor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1874520"/>
            <a:ext cx="1143000" cy="1143000"/>
          </a:xfrm>
          <a:prstGeom prst="rect">
            <a:avLst/>
          </a:prstGeom>
          <a:solidFill>
            <a:srgbClr val="6C63FF"/>
          </a:solidFill>
          <a:ln>
            <a:solidFill>
              <a:srgbClr val="6C63FF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III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Predecir clase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95160" y="1874520"/>
            <a:ext cx="1143000" cy="1143000"/>
          </a:xfrm>
          <a:prstGeom prst="rect">
            <a:avLst/>
          </a:prstGeom>
          <a:solidFill>
            <a:srgbClr val="F39C12"/>
          </a:solidFill>
          <a:ln>
            <a:solidFill>
              <a:srgbClr val="F39C12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IV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Segmentar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098280" y="1874520"/>
            <a:ext cx="1143000" cy="1143000"/>
          </a:xfrm>
          <a:prstGeom prst="rect">
            <a:avLst/>
          </a:prstGeom>
          <a:solidFill>
            <a:srgbClr val="2EAD4B"/>
          </a:solidFill>
          <a:ln>
            <a:solidFill>
              <a:srgbClr val="2EAD4B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Anticipar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3232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Salida esperada del curso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3232" y="4370832"/>
            <a:ext cx="48920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</a:rPr>
              <a:t>El alumnado entrega notebooks reproducibles: código, gráficos, métricas e interpretación de negocio.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39712" y="4453128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74152" y="4453128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308592" y="4453128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543032" y="4453128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623560" y="4224528"/>
            <a:ext cx="1143000" cy="457200"/>
          </a:xfrm>
          <a:prstGeom prst="rect">
            <a:avLst/>
          </a:prstGeom>
          <a:solidFill>
            <a:srgbClr val="1E88E5"/>
          </a:solidFill>
          <a:ln>
            <a:solidFill>
              <a:srgbClr val="1E88E5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Contexto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20–25’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6858000" y="4224528"/>
            <a:ext cx="1143000" cy="457200"/>
          </a:xfrm>
          <a:prstGeom prst="rect">
            <a:avLst/>
          </a:prstGeom>
          <a:solidFill>
            <a:srgbClr val="00A6A6"/>
          </a:solidFill>
          <a:ln>
            <a:solidFill>
              <a:srgbClr val="00A6A6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Técnica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35–45’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8092440" y="4224528"/>
            <a:ext cx="1143000" cy="457200"/>
          </a:xfrm>
          <a:prstGeom prst="rect">
            <a:avLst/>
          </a:prstGeom>
          <a:solidFill>
            <a:srgbClr val="6C63FF"/>
          </a:solidFill>
          <a:ln>
            <a:solidFill>
              <a:srgbClr val="6C63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Demo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45’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9326880" y="4224528"/>
            <a:ext cx="1143000" cy="457200"/>
          </a:xfrm>
          <a:prstGeom prst="rect">
            <a:avLst/>
          </a:prstGeom>
          <a:solidFill>
            <a:srgbClr val="F39C12"/>
          </a:solidFill>
          <a:ln>
            <a:solidFill>
              <a:srgbClr val="F39C12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Práctica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45’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10561320" y="4224528"/>
            <a:ext cx="1143000" cy="457200"/>
          </a:xfrm>
          <a:prstGeom prst="rect">
            <a:avLst/>
          </a:prstGeom>
          <a:solidFill>
            <a:srgbClr val="2EAD4B"/>
          </a:solidFill>
          <a:ln>
            <a:solidFill>
              <a:srgbClr val="2EAD4B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Cierre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15–20’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Data Analyst · Mayo 2026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311128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didáctica de cada sesión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96012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600200" y="7498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Una clase de 3 horas con teoría, demo y práctica evaluable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49240" y="1234440"/>
            <a:ext cx="1463040" cy="822960"/>
          </a:xfrm>
          <a:prstGeom prst="rect">
            <a:avLst/>
          </a:prstGeom>
          <a:solidFill>
            <a:srgbClr val="1E88E5"/>
          </a:solidFill>
          <a:ln>
            <a:solidFill>
              <a:srgbClr val="1E88E5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Contexto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¿Qué problema resuelve?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2743200"/>
            <a:ext cx="1600200" cy="822960"/>
          </a:xfrm>
          <a:prstGeom prst="rect">
            <a:avLst/>
          </a:prstGeom>
          <a:solidFill>
            <a:srgbClr val="00A6A6"/>
          </a:solidFill>
          <a:ln>
            <a:solidFill>
              <a:srgbClr val="00A6A6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Explicación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Conceptos + métricas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49240" y="4434840"/>
            <a:ext cx="1463040" cy="822960"/>
          </a:xfrm>
          <a:prstGeom prst="rect">
            <a:avLst/>
          </a:prstGeom>
          <a:solidFill>
            <a:srgbClr val="6C63FF"/>
          </a:solidFill>
          <a:ln>
            <a:solidFill>
              <a:srgbClr val="6C63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Notebook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Demo guiada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2743200"/>
            <a:ext cx="1600200" cy="822960"/>
          </a:xfrm>
          <a:prstGeom prst="rect">
            <a:avLst/>
          </a:prstGeom>
          <a:solidFill>
            <a:srgbClr val="F39C12"/>
          </a:solidFill>
          <a:ln>
            <a:solidFill>
              <a:srgbClr val="F39C12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Práctica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Conclusiones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6636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Evaluación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92040" y="31821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</a:rPr>
              <a:t>código + interpretación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5166360"/>
            <a:ext cx="4572000" cy="777240"/>
          </a:xfrm>
          <a:prstGeom prst="rect">
            <a:avLst/>
          </a:prstGeom>
          <a:solidFill>
            <a:srgbClr val="EAF4FF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Rol del docente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Conectar cada técnica con una decisión real: vender, estimar, clasificar, segmentar o planificar.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03720" y="5166360"/>
            <a:ext cx="4572000" cy="777240"/>
          </a:xfrm>
          <a:prstGeom prst="rect">
            <a:avLst/>
          </a:prstGeom>
          <a:solidFill>
            <a:srgbClr val="EEF6F8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Rol del alumnado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Ejecutar, modificar, comparar y explicar resultados en lenguaje de negocio.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Data Analyst · Mayo 2026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311128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88E5"/>
                </a:solidFill>
              </a:rPr>
              <a:t>Bloque 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Python, pandas y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análisis descriptivo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49808" y="30632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</a:rPr>
              <a:t>Pregunta guía: ¿qué nos dicen los datos antes de modelizar?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0" y="1280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88E5"/>
                </a:solidFill>
              </a:rPr>
              <a:t>3h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223760" y="1810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sesión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41080" y="1280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6A6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49640" y="1810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dataset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966960" y="1280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39C12"/>
                </a:solidFill>
              </a:rPr>
              <a:t>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875520" y="1810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librerías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85432" y="4572000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119872" y="4572000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354312" y="4572000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588752" y="4572000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669280" y="4343400"/>
            <a:ext cx="1143000" cy="457200"/>
          </a:xfrm>
          <a:prstGeom prst="rect">
            <a:avLst/>
          </a:prstGeom>
          <a:solidFill>
            <a:srgbClr val="1E88E5"/>
          </a:solidFill>
          <a:ln>
            <a:solidFill>
              <a:srgbClr val="1E88E5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Contexto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20–25’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6903720" y="4343400"/>
            <a:ext cx="1143000" cy="457200"/>
          </a:xfrm>
          <a:prstGeom prst="rect">
            <a:avLst/>
          </a:prstGeom>
          <a:solidFill>
            <a:srgbClr val="00A6A6"/>
          </a:solidFill>
          <a:ln>
            <a:solidFill>
              <a:srgbClr val="00A6A6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Técnica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35–45’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8138160" y="4343400"/>
            <a:ext cx="1143000" cy="457200"/>
          </a:xfrm>
          <a:prstGeom prst="rect">
            <a:avLst/>
          </a:prstGeom>
          <a:solidFill>
            <a:srgbClr val="6C63FF"/>
          </a:solidFill>
          <a:ln>
            <a:solidFill>
              <a:srgbClr val="6C63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Demo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45’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9372600" y="4343400"/>
            <a:ext cx="1143000" cy="457200"/>
          </a:xfrm>
          <a:prstGeom prst="rect">
            <a:avLst/>
          </a:prstGeom>
          <a:solidFill>
            <a:srgbClr val="F39C12"/>
          </a:solidFill>
          <a:ln>
            <a:solidFill>
              <a:srgbClr val="F39C12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Práctica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45’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10607040" y="4343400"/>
            <a:ext cx="1143000" cy="457200"/>
          </a:xfrm>
          <a:prstGeom prst="rect">
            <a:avLst/>
          </a:prstGeom>
          <a:solidFill>
            <a:srgbClr val="2EAD4B"/>
          </a:solidFill>
          <a:ln>
            <a:solidFill>
              <a:srgbClr val="2EAD4B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Cierre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15–20’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Data Analyst · Mayo 2026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311128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I · Flujo de análisis descriptivo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96012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600200" y="7498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Del fichero bruto a conclusiones accionables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920240" y="2240280"/>
            <a:ext cx="868680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023360" y="2240280"/>
            <a:ext cx="868680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126480" y="2240280"/>
            <a:ext cx="868680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0" y="2240280"/>
            <a:ext cx="868680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77240" y="1828800"/>
            <a:ext cx="1143000" cy="822960"/>
          </a:xfrm>
          <a:prstGeom prst="rect">
            <a:avLst/>
          </a:prstGeom>
          <a:solidFill>
            <a:srgbClr val="1E88E5"/>
          </a:solidFill>
          <a:ln>
            <a:solidFill>
              <a:srgbClr val="1E88E5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Carga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80360" y="1828800"/>
            <a:ext cx="1143000" cy="822960"/>
          </a:xfrm>
          <a:prstGeom prst="rect">
            <a:avLst/>
          </a:prstGeom>
          <a:solidFill>
            <a:srgbClr val="00A6A6"/>
          </a:solidFill>
          <a:ln>
            <a:solidFill>
              <a:srgbClr val="00A6A6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Inspección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828800"/>
            <a:ext cx="1143000" cy="822960"/>
          </a:xfrm>
          <a:prstGeom prst="rect">
            <a:avLst/>
          </a:prstGeom>
          <a:solidFill>
            <a:srgbClr val="6C63FF"/>
          </a:solidFill>
          <a:ln>
            <a:solidFill>
              <a:srgbClr val="6C63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Limpieza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86600" y="1828800"/>
            <a:ext cx="1143000" cy="822960"/>
          </a:xfrm>
          <a:prstGeom prst="rect">
            <a:avLst/>
          </a:prstGeom>
          <a:solidFill>
            <a:srgbClr val="F39C12"/>
          </a:solidFill>
          <a:ln>
            <a:solidFill>
              <a:srgbClr val="F39C12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Agrupación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89720" y="1828800"/>
            <a:ext cx="1143000" cy="822960"/>
          </a:xfrm>
          <a:prstGeom prst="rect">
            <a:avLst/>
          </a:prstGeom>
          <a:solidFill>
            <a:srgbClr val="2EAD4B"/>
          </a:solidFill>
          <a:ln>
            <a:solidFill>
              <a:srgbClr val="2EAD4B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Conclusiones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246120"/>
            <a:ext cx="2057400" cy="987552"/>
          </a:xfrm>
          <a:prstGeom prst="rect">
            <a:avLst/>
          </a:prstGeom>
          <a:solidFill>
            <a:srgbClr val="EAF4FF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Carga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CSV, Excel o SQL. Primeras filas con `head()` y dimensiones con `shape`.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3246120"/>
            <a:ext cx="2057400" cy="987552"/>
          </a:xfrm>
          <a:prstGeom prst="rect">
            <a:avLst/>
          </a:prstGeom>
          <a:solidFill>
            <a:srgbClr val="EEF6F8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Calidad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Nulos, duplicados, tipos de datos y formatos de fecha.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15000" y="3246120"/>
            <a:ext cx="2057400" cy="987552"/>
          </a:xfrm>
          <a:prstGeom prst="rect">
            <a:avLst/>
          </a:prstGeom>
          <a:solidFill>
            <a:srgbClr val="EAF4FF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EDA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Medias, medianas, percentiles, gráficos y segmentaciones.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83880" y="3246120"/>
            <a:ext cx="2651760" cy="987552"/>
          </a:xfrm>
          <a:prstGeom prst="rect">
            <a:avLst/>
          </a:prstGeom>
          <a:solidFill>
            <a:srgbClr val="EEF6F8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Informe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Convertir números en mensajes: qué ocurre, dónde y por qué importa.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Data Analyst · Mayo 2026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311128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I · pandas como mesa de trabajo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96012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600200" y="7498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Un DataFrame permite preguntar, transformar y resumir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3533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DataFrame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161288" cy="384048"/>
          </a:xfrm>
          <a:prstGeom prst="rect">
            <a:avLst/>
          </a:prstGeom>
          <a:solidFill>
            <a:srgbClr val="1E88E5"/>
          </a:solidFill>
          <a:ln w="762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fecha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57400" y="1828800"/>
            <a:ext cx="1161288" cy="384048"/>
          </a:xfrm>
          <a:prstGeom prst="rect">
            <a:avLst/>
          </a:prstGeom>
          <a:solidFill>
            <a:srgbClr val="1E88E5"/>
          </a:solidFill>
          <a:ln w="762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región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46120" y="1828800"/>
            <a:ext cx="1161288" cy="384048"/>
          </a:xfrm>
          <a:prstGeom prst="rect">
            <a:avLst/>
          </a:prstGeom>
          <a:solidFill>
            <a:srgbClr val="1E88E5"/>
          </a:solidFill>
          <a:ln w="762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canal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34840" y="1828800"/>
            <a:ext cx="1161288" cy="384048"/>
          </a:xfrm>
          <a:prstGeom prst="rect">
            <a:avLst/>
          </a:prstGeom>
          <a:solidFill>
            <a:srgbClr val="1E88E5"/>
          </a:solidFill>
          <a:ln w="762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importe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212848"/>
            <a:ext cx="1161288" cy="384048"/>
          </a:xfrm>
          <a:prstGeom prst="rect">
            <a:avLst/>
          </a:prstGeom>
          <a:solidFill>
            <a:srgbClr val="F4F7FB"/>
          </a:solidFill>
          <a:ln w="5080">
            <a:solidFill>
              <a:srgbClr val="D9E3F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733"/>
                </a:solidFill>
              </a:rPr>
              <a:t>05/05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57400" y="2212848"/>
            <a:ext cx="1161288" cy="384048"/>
          </a:xfrm>
          <a:prstGeom prst="rect">
            <a:avLst/>
          </a:prstGeom>
          <a:solidFill>
            <a:srgbClr val="F4F7FB"/>
          </a:solidFill>
          <a:ln w="5080">
            <a:solidFill>
              <a:srgbClr val="D9E3F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733"/>
                </a:solidFill>
              </a:rPr>
              <a:t>Madrid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46120" y="2212848"/>
            <a:ext cx="1161288" cy="384048"/>
          </a:xfrm>
          <a:prstGeom prst="rect">
            <a:avLst/>
          </a:prstGeom>
          <a:solidFill>
            <a:srgbClr val="F4F7FB"/>
          </a:solidFill>
          <a:ln w="5080">
            <a:solidFill>
              <a:srgbClr val="D9E3F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733"/>
                </a:solidFill>
              </a:rPr>
              <a:t>Online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34840" y="2212848"/>
            <a:ext cx="1161288" cy="384048"/>
          </a:xfrm>
          <a:prstGeom prst="rect">
            <a:avLst/>
          </a:prstGeom>
          <a:solidFill>
            <a:srgbClr val="F4F7FB"/>
          </a:solidFill>
          <a:ln w="5080">
            <a:solidFill>
              <a:srgbClr val="D9E3F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733"/>
                </a:solidFill>
              </a:rPr>
              <a:t>1.240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2596896"/>
            <a:ext cx="116128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9E3F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733"/>
                </a:solidFill>
              </a:rPr>
              <a:t>05/05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57400" y="2596896"/>
            <a:ext cx="116128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9E3F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733"/>
                </a:solidFill>
              </a:rPr>
              <a:t>Madrid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46120" y="2596896"/>
            <a:ext cx="116128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9E3F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733"/>
                </a:solidFill>
              </a:rPr>
              <a:t>Online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34840" y="2596896"/>
            <a:ext cx="116128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9E3F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733"/>
                </a:solidFill>
              </a:rPr>
              <a:t>1.240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" y="2980944"/>
            <a:ext cx="1161288" cy="384048"/>
          </a:xfrm>
          <a:prstGeom prst="rect">
            <a:avLst/>
          </a:prstGeom>
          <a:solidFill>
            <a:srgbClr val="F4F7FB"/>
          </a:solidFill>
          <a:ln w="5080">
            <a:solidFill>
              <a:srgbClr val="D9E3F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733"/>
                </a:solidFill>
              </a:rPr>
              <a:t>05/05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57400" y="2980944"/>
            <a:ext cx="1161288" cy="384048"/>
          </a:xfrm>
          <a:prstGeom prst="rect">
            <a:avLst/>
          </a:prstGeom>
          <a:solidFill>
            <a:srgbClr val="F4F7FB"/>
          </a:solidFill>
          <a:ln w="5080">
            <a:solidFill>
              <a:srgbClr val="D9E3F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733"/>
                </a:solidFill>
              </a:rPr>
              <a:t>Madrid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46120" y="2980944"/>
            <a:ext cx="1161288" cy="384048"/>
          </a:xfrm>
          <a:prstGeom prst="rect">
            <a:avLst/>
          </a:prstGeom>
          <a:solidFill>
            <a:srgbClr val="F4F7FB"/>
          </a:solidFill>
          <a:ln w="5080">
            <a:solidFill>
              <a:srgbClr val="D9E3F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733"/>
                </a:solidFill>
              </a:rPr>
              <a:t>Online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34840" y="2980944"/>
            <a:ext cx="1161288" cy="384048"/>
          </a:xfrm>
          <a:prstGeom prst="rect">
            <a:avLst/>
          </a:prstGeom>
          <a:solidFill>
            <a:srgbClr val="F4F7FB"/>
          </a:solidFill>
          <a:ln w="5080">
            <a:solidFill>
              <a:srgbClr val="D9E3F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733"/>
                </a:solidFill>
              </a:rPr>
              <a:t>1.240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3364992"/>
            <a:ext cx="116128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9E3F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733"/>
                </a:solidFill>
              </a:rPr>
              <a:t>05/05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57400" y="3364992"/>
            <a:ext cx="116128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9E3F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733"/>
                </a:solidFill>
              </a:rPr>
              <a:t>Madrid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46120" y="3364992"/>
            <a:ext cx="116128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9E3F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733"/>
                </a:solidFill>
              </a:rPr>
              <a:t>Online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34840" y="3364992"/>
            <a:ext cx="1161288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9E3F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733"/>
                </a:solidFill>
              </a:rPr>
              <a:t>1.240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3749040"/>
            <a:ext cx="1161288" cy="384048"/>
          </a:xfrm>
          <a:prstGeom prst="rect">
            <a:avLst/>
          </a:prstGeom>
          <a:solidFill>
            <a:srgbClr val="F4F7FB"/>
          </a:solidFill>
          <a:ln w="5080">
            <a:solidFill>
              <a:srgbClr val="D9E3F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733"/>
                </a:solidFill>
              </a:rPr>
              <a:t>05/05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057400" y="3749040"/>
            <a:ext cx="1161288" cy="384048"/>
          </a:xfrm>
          <a:prstGeom prst="rect">
            <a:avLst/>
          </a:prstGeom>
          <a:solidFill>
            <a:srgbClr val="F4F7FB"/>
          </a:solidFill>
          <a:ln w="5080">
            <a:solidFill>
              <a:srgbClr val="D9E3F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733"/>
                </a:solidFill>
              </a:rPr>
              <a:t>Madrid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46120" y="3749040"/>
            <a:ext cx="1161288" cy="384048"/>
          </a:xfrm>
          <a:prstGeom prst="rect">
            <a:avLst/>
          </a:prstGeom>
          <a:solidFill>
            <a:srgbClr val="F4F7FB"/>
          </a:solidFill>
          <a:ln w="5080">
            <a:solidFill>
              <a:srgbClr val="D9E3F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733"/>
                </a:solidFill>
              </a:rPr>
              <a:t>Online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34840" y="3749040"/>
            <a:ext cx="1161288" cy="384048"/>
          </a:xfrm>
          <a:prstGeom prst="rect">
            <a:avLst/>
          </a:prstGeom>
          <a:solidFill>
            <a:srgbClr val="F4F7FB"/>
          </a:solidFill>
          <a:ln w="5080">
            <a:solidFill>
              <a:srgbClr val="D9E3F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2733"/>
                </a:solidFill>
              </a:rPr>
              <a:t>1.240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06440" y="2240280"/>
            <a:ext cx="1143000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806440" y="2971800"/>
            <a:ext cx="1143000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806440" y="3703320"/>
            <a:ext cx="1143000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7178040" y="1874520"/>
            <a:ext cx="1143000" cy="685800"/>
          </a:xfrm>
          <a:prstGeom prst="rect">
            <a:avLst/>
          </a:prstGeom>
          <a:solidFill>
            <a:srgbClr val="00A6A6"/>
          </a:solidFill>
          <a:ln>
            <a:solidFill>
              <a:srgbClr val="00A6A6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filtrar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query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78040" y="2606040"/>
            <a:ext cx="1143000" cy="685800"/>
          </a:xfrm>
          <a:prstGeom prst="rect">
            <a:avLst/>
          </a:prstGeom>
          <a:solidFill>
            <a:srgbClr val="6C63FF"/>
          </a:solidFill>
          <a:ln>
            <a:solidFill>
              <a:srgbClr val="6C63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agrupar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groupby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78040" y="3337560"/>
            <a:ext cx="1143000" cy="685800"/>
          </a:xfrm>
          <a:prstGeom prst="rect">
            <a:avLst/>
          </a:prstGeom>
          <a:solidFill>
            <a:srgbClr val="F39C12"/>
          </a:solidFill>
          <a:ln>
            <a:solidFill>
              <a:srgbClr val="F39C12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visualizar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plot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77824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Resultado esperado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778240" y="2240280"/>
            <a:ext cx="24688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</a:rPr>
              <a:t>• ventas por región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</a:rPr>
              <a:t>• ticket medio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</a:rPr>
              <a:t>• outliers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</a:rPr>
              <a:t>• patrones temporales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</a:rPr>
              <a:t>• 3 conclusiones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Data Analyst · Mayo 2026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311128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6A6"/>
                </a:solidFill>
              </a:rPr>
              <a:t>Bloque II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Regresión y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comparación de modelos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49808" y="30632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</a:rPr>
              <a:t>Pregunta guía: ¿podemos estimar un valor numérico?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60920" y="1417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6A6"/>
                </a:solidFill>
              </a:rPr>
              <a:t>X → 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B7A"/>
                </a:solidFill>
              </a:rPr>
              <a:t>variables predictoras → importe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85432" y="4572000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119872" y="4572000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354312" y="4572000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588752" y="4572000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669280" y="4343400"/>
            <a:ext cx="1143000" cy="457200"/>
          </a:xfrm>
          <a:prstGeom prst="rect">
            <a:avLst/>
          </a:prstGeom>
          <a:solidFill>
            <a:srgbClr val="1E88E5"/>
          </a:solidFill>
          <a:ln>
            <a:solidFill>
              <a:srgbClr val="1E88E5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Contexto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20–25’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6903720" y="4343400"/>
            <a:ext cx="1143000" cy="457200"/>
          </a:xfrm>
          <a:prstGeom prst="rect">
            <a:avLst/>
          </a:prstGeom>
          <a:solidFill>
            <a:srgbClr val="00A6A6"/>
          </a:solidFill>
          <a:ln>
            <a:solidFill>
              <a:srgbClr val="00A6A6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Técnica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35–45’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8138160" y="4343400"/>
            <a:ext cx="1143000" cy="457200"/>
          </a:xfrm>
          <a:prstGeom prst="rect">
            <a:avLst/>
          </a:prstGeom>
          <a:solidFill>
            <a:srgbClr val="6C63FF"/>
          </a:solidFill>
          <a:ln>
            <a:solidFill>
              <a:srgbClr val="6C63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Demo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45’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9372600" y="4343400"/>
            <a:ext cx="1143000" cy="457200"/>
          </a:xfrm>
          <a:prstGeom prst="rect">
            <a:avLst/>
          </a:prstGeom>
          <a:solidFill>
            <a:srgbClr val="F39C12"/>
          </a:solidFill>
          <a:ln>
            <a:solidFill>
              <a:srgbClr val="F39C12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Práctica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45’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10607040" y="4343400"/>
            <a:ext cx="1143000" cy="457200"/>
          </a:xfrm>
          <a:prstGeom prst="rect">
            <a:avLst/>
          </a:prstGeom>
          <a:solidFill>
            <a:srgbClr val="2EAD4B"/>
          </a:solidFill>
          <a:ln>
            <a:solidFill>
              <a:srgbClr val="2EAD4B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Cierre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15–20’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Data Analyst · Mayo 2026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311128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II · Flujo de modelización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96012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600200" y="7498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Entrenar con pasado, evaluar con datos no vistos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0" y="2743200"/>
            <a:ext cx="1371600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754880" y="2743200"/>
            <a:ext cx="1371600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406640" y="2743200"/>
            <a:ext cx="1325880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22960" y="2331720"/>
            <a:ext cx="1234440" cy="822960"/>
          </a:xfrm>
          <a:prstGeom prst="rect">
            <a:avLst/>
          </a:prstGeom>
          <a:solidFill>
            <a:srgbClr val="1E88E5"/>
          </a:solidFill>
          <a:ln>
            <a:solidFill>
              <a:srgbClr val="1E88E5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limpios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2331720"/>
            <a:ext cx="1234440" cy="822960"/>
          </a:xfrm>
          <a:prstGeom prst="rect">
            <a:avLst/>
          </a:prstGeom>
          <a:solidFill>
            <a:srgbClr val="00A6A6"/>
          </a:solidFill>
          <a:ln>
            <a:solidFill>
              <a:srgbClr val="00A6A6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Train/Test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80/20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72200" y="2331720"/>
            <a:ext cx="1234440" cy="822960"/>
          </a:xfrm>
          <a:prstGeom prst="rect">
            <a:avLst/>
          </a:prstGeom>
          <a:solidFill>
            <a:srgbClr val="6C63FF"/>
          </a:solidFill>
          <a:ln>
            <a:solidFill>
              <a:srgbClr val="6C63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fit()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23960" y="2331720"/>
            <a:ext cx="1645920" cy="822960"/>
          </a:xfrm>
          <a:prstGeom prst="rect">
            <a:avLst/>
          </a:prstGeom>
          <a:solidFill>
            <a:srgbClr val="F39C12"/>
          </a:solidFill>
          <a:ln>
            <a:solidFill>
              <a:srgbClr val="F39C12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Métricas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MAE · RMSE · R²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794760"/>
            <a:ext cx="2377440" cy="731520"/>
          </a:xfrm>
          <a:prstGeom prst="rect">
            <a:avLst/>
          </a:prstGeom>
          <a:solidFill>
            <a:srgbClr val="EAF4FF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Train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El modelo aprende patrones en los datos de entrenamiento.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3320" y="3794760"/>
            <a:ext cx="2377440" cy="731520"/>
          </a:xfrm>
          <a:prstGeom prst="rect">
            <a:avLst/>
          </a:prstGeom>
          <a:solidFill>
            <a:srgbClr val="EEF6F8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Test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El modelo se evalúa con datos que no ha visto.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3794760"/>
            <a:ext cx="3200400" cy="731520"/>
          </a:xfrm>
          <a:prstGeom prst="rect">
            <a:avLst/>
          </a:prstGeom>
          <a:solidFill>
            <a:srgbClr val="EAF4FF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Generalización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La clave no es memorizar: es predecir bien fuera de muestra.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Data Analyst · Mayo 2026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311128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II · Qué significa comparar modelos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96012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600200" y="7498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Precisión, interpretabilidad y estabilidad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2788920"/>
            <a:ext cx="731520" cy="23774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257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F6B7A"/>
                </a:solidFill>
              </a:rPr>
              <a:t>Lineal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2011680" y="2971800"/>
            <a:ext cx="731520" cy="2194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5257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F6B7A"/>
                </a:solidFill>
              </a:rPr>
              <a:t>Ridge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3154680" y="2880360"/>
            <a:ext cx="731520" cy="22860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5257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F6B7A"/>
                </a:solidFill>
              </a:rPr>
              <a:t>Lasso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4297680" y="3520440"/>
            <a:ext cx="731520" cy="1645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5257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F6B7A"/>
                </a:solidFill>
              </a:rPr>
              <a:t>Random Forest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658368" y="1600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RMSE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menor es mejor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897880" y="1463040"/>
            <a:ext cx="2743200" cy="731520"/>
          </a:xfrm>
          <a:prstGeom prst="rect">
            <a:avLst/>
          </a:prstGeom>
          <a:solidFill>
            <a:srgbClr val="EAF4FF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Regresión lineal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Muy interpretable. Útil como baseline.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97880" y="2423160"/>
            <a:ext cx="2743200" cy="731520"/>
          </a:xfrm>
          <a:prstGeom prst="rect">
            <a:avLst/>
          </a:prstGeom>
          <a:solidFill>
            <a:srgbClr val="EEF6F8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Ridge / Lasso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Controlan complejidad y reducen sobreajuste.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97880" y="3383280"/>
            <a:ext cx="2743200" cy="731520"/>
          </a:xfrm>
          <a:prstGeom prst="rect">
            <a:avLst/>
          </a:prstGeom>
          <a:solidFill>
            <a:srgbClr val="EAF4FF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Random Forest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Captura no linealidades, pero explica peor.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97880" y="4572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6A6"/>
                </a:solidFill>
              </a:rPr>
              <a:t>Decisión final = métrica + contexto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Data Analyst · Mayo 2026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311128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63FF"/>
                </a:solidFill>
              </a:rPr>
              <a:t>Bloque III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Clasificación, matriz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confusión y ROC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49808" y="30632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</a:rPr>
              <a:t>Pregunta guía: ¿a qué clase pertenece cada caso?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37960" y="1508760"/>
            <a:ext cx="1645920" cy="1005840"/>
          </a:xfrm>
          <a:prstGeom prst="rect">
            <a:avLst/>
          </a:prstGeom>
          <a:solidFill>
            <a:srgbClr val="00A6A6"/>
          </a:solidFill>
          <a:ln>
            <a:solidFill>
              <a:srgbClr val="00A6A6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abandono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69680" y="1508760"/>
            <a:ext cx="1645920" cy="1005840"/>
          </a:xfrm>
          <a:prstGeom prst="rect">
            <a:avLst/>
          </a:prstGeom>
          <a:solidFill>
            <a:srgbClr val="D64545"/>
          </a:solidFill>
          <a:ln>
            <a:solidFill>
              <a:srgbClr val="D64545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Abandono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83880" y="2011680"/>
            <a:ext cx="66751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85432" y="4572000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19872" y="4572000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354312" y="4572000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588752" y="4572000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669280" y="4343400"/>
            <a:ext cx="1143000" cy="457200"/>
          </a:xfrm>
          <a:prstGeom prst="rect">
            <a:avLst/>
          </a:prstGeom>
          <a:solidFill>
            <a:srgbClr val="1E88E5"/>
          </a:solidFill>
          <a:ln>
            <a:solidFill>
              <a:srgbClr val="1E88E5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Contexto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20–25’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6903720" y="4343400"/>
            <a:ext cx="1143000" cy="457200"/>
          </a:xfrm>
          <a:prstGeom prst="rect">
            <a:avLst/>
          </a:prstGeom>
          <a:solidFill>
            <a:srgbClr val="00A6A6"/>
          </a:solidFill>
          <a:ln>
            <a:solidFill>
              <a:srgbClr val="00A6A6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Técnica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35–45’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8138160" y="4343400"/>
            <a:ext cx="1143000" cy="457200"/>
          </a:xfrm>
          <a:prstGeom prst="rect">
            <a:avLst/>
          </a:prstGeom>
          <a:solidFill>
            <a:srgbClr val="6C63FF"/>
          </a:solidFill>
          <a:ln>
            <a:solidFill>
              <a:srgbClr val="6C63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Demo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45’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9372600" y="4343400"/>
            <a:ext cx="1143000" cy="457200"/>
          </a:xfrm>
          <a:prstGeom prst="rect">
            <a:avLst/>
          </a:prstGeom>
          <a:solidFill>
            <a:srgbClr val="F39C12"/>
          </a:solidFill>
          <a:ln>
            <a:solidFill>
              <a:srgbClr val="F39C12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Práctica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45’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10607040" y="4343400"/>
            <a:ext cx="1143000" cy="457200"/>
          </a:xfrm>
          <a:prstGeom prst="rect">
            <a:avLst/>
          </a:prstGeom>
          <a:solidFill>
            <a:srgbClr val="2EAD4B"/>
          </a:solidFill>
          <a:ln>
            <a:solidFill>
              <a:srgbClr val="2EAD4B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Cierre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15–20’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Data Analyst · Mayo 2026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311128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III · Matriz de confusión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96012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600200" y="7498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Entender aciertos y errores antes de mirar solo accuracy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60120" y="1508760"/>
            <a:ext cx="2057400" cy="548640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  Predicho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508760"/>
            <a:ext cx="2057400" cy="548640"/>
          </a:xfrm>
          <a:prstGeom prst="rect">
            <a:avLst/>
          </a:prstGeom>
          <a:solidFill>
            <a:srgbClr val="1E88E5"/>
          </a:solidFill>
          <a:ln w="1270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abandono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4920" y="1508760"/>
            <a:ext cx="2057400" cy="548640"/>
          </a:xfrm>
          <a:prstGeom prst="rect">
            <a:avLst/>
          </a:prstGeom>
          <a:solidFill>
            <a:srgbClr val="1E88E5"/>
          </a:solidFill>
          <a:ln w="1270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Abandono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057400"/>
            <a:ext cx="2057400" cy="914400"/>
          </a:xfrm>
          <a:prstGeom prst="rect">
            <a:avLst/>
          </a:prstGeom>
          <a:solidFill>
            <a:srgbClr val="5F6B7A"/>
          </a:solidFill>
          <a:ln w="1270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abandono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2057400"/>
            <a:ext cx="2057400" cy="9144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AD4B"/>
                </a:solidFill>
              </a:rPr>
              <a:t>Verdadero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AD4B"/>
                </a:solidFill>
              </a:rPr>
              <a:t>negativo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4920" y="2057400"/>
            <a:ext cx="2057400" cy="9144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4545"/>
                </a:solidFill>
              </a:rPr>
              <a:t>Falso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64545"/>
                </a:solidFill>
              </a:rPr>
              <a:t>positivo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971800"/>
            <a:ext cx="2057400" cy="914400"/>
          </a:xfrm>
          <a:prstGeom prst="rect">
            <a:avLst/>
          </a:prstGeom>
          <a:solidFill>
            <a:srgbClr val="5F6B7A"/>
          </a:solidFill>
          <a:ln w="12700"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Abandono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2971800"/>
            <a:ext cx="2057400" cy="9144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4545"/>
                </a:solidFill>
              </a:rPr>
              <a:t>Falso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64545"/>
                </a:solidFill>
              </a:rPr>
              <a:t>negativo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2971800"/>
            <a:ext cx="2057400" cy="914400"/>
          </a:xfrm>
          <a:prstGeom prst="rect">
            <a:avLst/>
          </a:prstGeom>
          <a:solidFill>
            <a:srgbClr val="F4F7FB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AD4B"/>
                </a:solidFill>
              </a:rPr>
              <a:t>Verdadero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AD4B"/>
                </a:solidFill>
              </a:rPr>
              <a:t>positivo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09560" y="1554480"/>
            <a:ext cx="2834640" cy="777240"/>
          </a:xfrm>
          <a:prstGeom prst="rect">
            <a:avLst/>
          </a:prstGeom>
          <a:solidFill>
            <a:srgbClr val="EAF4FF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Recall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De todos los abandonos reales, ¿cuántos detectamos?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09560" y="2560320"/>
            <a:ext cx="2834640" cy="777240"/>
          </a:xfrm>
          <a:prstGeom prst="rect">
            <a:avLst/>
          </a:prstGeom>
          <a:solidFill>
            <a:srgbClr val="EEF6F8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Precision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De los clientes marcados como abandono, ¿cuántos lo eran?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09560" y="3566160"/>
            <a:ext cx="2834640" cy="685800"/>
          </a:xfrm>
          <a:prstGeom prst="rect">
            <a:avLst/>
          </a:prstGeom>
          <a:solidFill>
            <a:srgbClr val="EAF4FF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F1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Equilibrio entre precision y recall.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Data Analyst · Mayo 2026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311128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III · ROC, AUC y umbral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96012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600200" y="7498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El modelo produce probabilidades; la decisión depende del umbral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05840" y="5166360"/>
            <a:ext cx="3840480" cy="0"/>
          </a:xfrm>
          <a:prstGeom prst="line">
            <a:avLst/>
          </a:prstGeom>
          <a:noFill/>
          <a:ln w="12700">
            <a:solidFill>
              <a:srgbClr val="5F6B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5166360"/>
            <a:ext cx="0" cy="-3017520"/>
          </a:xfrm>
          <a:prstGeom prst="line">
            <a:avLst/>
          </a:prstGeom>
          <a:noFill/>
          <a:ln w="12700">
            <a:solidFill>
              <a:srgbClr val="5F6B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5166360"/>
            <a:ext cx="3840480" cy="-301752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148840"/>
            <a:ext cx="4023360" cy="3063240"/>
          </a:xfrm>
          <a:prstGeom prst="arc">
            <a:avLst/>
          </a:prstGeom>
          <a:solidFill>
            <a:srgbClr val="FFFFFF">
              <a:alpha val="0"/>
            </a:srgbClr>
          </a:solidFill>
          <a:ln w="381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53949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</a:rPr>
              <a:t>FPR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 rot="16200000">
            <a:off x="475488" y="3429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</a:rPr>
              <a:t>TPR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C63FF"/>
                </a:solidFill>
              </a:rPr>
              <a:t>AUC ≈ capacidad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C63FF"/>
                </a:solidFill>
              </a:rPr>
              <a:t>de separar clases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Umbral de decisión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37960" y="2743200"/>
            <a:ext cx="3566160" cy="0"/>
          </a:xfrm>
          <a:prstGeom prst="line">
            <a:avLst/>
          </a:prstGeom>
          <a:noFill/>
          <a:ln w="63500">
            <a:solidFill>
              <a:srgbClr val="D9E3F0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6400800" y="2971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</a:rPr>
              <a:t>0.3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83880" y="2971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</a:rPr>
              <a:t>0.5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966960" y="2971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</a:rPr>
              <a:t>0.7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83880" y="2587752"/>
            <a:ext cx="292608" cy="29260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3703320"/>
            <a:ext cx="2331720" cy="822960"/>
          </a:xfrm>
          <a:prstGeom prst="rect">
            <a:avLst/>
          </a:prstGeom>
          <a:solidFill>
            <a:srgbClr val="EAF4FF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Bajar umbral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Aumenta recall, pero puede subir falsos positivos.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41080" y="3703320"/>
            <a:ext cx="2331720" cy="822960"/>
          </a:xfrm>
          <a:prstGeom prst="rect">
            <a:avLst/>
          </a:prstGeom>
          <a:solidFill>
            <a:srgbClr val="EEF6F8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Subir umbral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Aumenta precision, pero puede dejar casos positivos sin detectar.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Data Analyst · Mayo 2026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311128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C12"/>
                </a:solidFill>
              </a:rPr>
              <a:t>Bloque IV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Clustering, silhouette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PCA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49808" y="30632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</a:rPr>
              <a:t>Pregunta guía: ¿qué grupos existen sin etiqueta previa?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737360"/>
            <a:ext cx="201168" cy="20116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2011680"/>
            <a:ext cx="201168" cy="20116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2148840"/>
            <a:ext cx="201168" cy="20116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0" y="1645920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35440" y="1920240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2240280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2926080"/>
            <a:ext cx="201168" cy="201168"/>
          </a:xfrm>
          <a:prstGeom prst="ellipse">
            <a:avLst/>
          </a:prstGeom>
          <a:solidFill>
            <a:srgbClr val="2EAD4B"/>
          </a:solidFill>
          <a:ln w="12700">
            <a:solidFill>
              <a:srgbClr val="2EAD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8200" y="3246120"/>
            <a:ext cx="201168" cy="201168"/>
          </a:xfrm>
          <a:prstGeom prst="ellipse">
            <a:avLst/>
          </a:prstGeom>
          <a:solidFill>
            <a:srgbClr val="2EAD4B"/>
          </a:solidFill>
          <a:ln w="12700">
            <a:solidFill>
              <a:srgbClr val="2EAD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3337560"/>
            <a:ext cx="201168" cy="201168"/>
          </a:xfrm>
          <a:prstGeom prst="ellipse">
            <a:avLst/>
          </a:prstGeom>
          <a:solidFill>
            <a:srgbClr val="2EAD4B"/>
          </a:solidFill>
          <a:ln w="12700">
            <a:solidFill>
              <a:srgbClr val="2EAD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85432" y="4572000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19872" y="4572000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354312" y="4572000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588752" y="4572000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669280" y="4343400"/>
            <a:ext cx="1143000" cy="457200"/>
          </a:xfrm>
          <a:prstGeom prst="rect">
            <a:avLst/>
          </a:prstGeom>
          <a:solidFill>
            <a:srgbClr val="1E88E5"/>
          </a:solidFill>
          <a:ln>
            <a:solidFill>
              <a:srgbClr val="1E88E5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Contexto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20–25’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6903720" y="4343400"/>
            <a:ext cx="1143000" cy="457200"/>
          </a:xfrm>
          <a:prstGeom prst="rect">
            <a:avLst/>
          </a:prstGeom>
          <a:solidFill>
            <a:srgbClr val="00A6A6"/>
          </a:solidFill>
          <a:ln>
            <a:solidFill>
              <a:srgbClr val="00A6A6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Técnica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35–45’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8138160" y="4343400"/>
            <a:ext cx="1143000" cy="457200"/>
          </a:xfrm>
          <a:prstGeom prst="rect">
            <a:avLst/>
          </a:prstGeom>
          <a:solidFill>
            <a:srgbClr val="6C63FF"/>
          </a:solidFill>
          <a:ln>
            <a:solidFill>
              <a:srgbClr val="6C63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Demo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45’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9372600" y="4343400"/>
            <a:ext cx="1143000" cy="457200"/>
          </a:xfrm>
          <a:prstGeom prst="rect">
            <a:avLst/>
          </a:prstGeom>
          <a:solidFill>
            <a:srgbClr val="F39C12"/>
          </a:solidFill>
          <a:ln>
            <a:solidFill>
              <a:srgbClr val="F39C12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Práctica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45’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10607040" y="4343400"/>
            <a:ext cx="1143000" cy="457200"/>
          </a:xfrm>
          <a:prstGeom prst="rect">
            <a:avLst/>
          </a:prstGeom>
          <a:solidFill>
            <a:srgbClr val="2EAD4B"/>
          </a:solidFill>
          <a:ln>
            <a:solidFill>
              <a:srgbClr val="2EAD4B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Cierre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15–20’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Data Analyst · Mayo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311128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IV · K-Means en tres ideas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96012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600200" y="7498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Agrupar por similitud y perfilar segmentos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0" y="2651760"/>
            <a:ext cx="1051560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897880" y="2651760"/>
            <a:ext cx="1051560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097280" y="2148840"/>
            <a:ext cx="1645920" cy="1005840"/>
          </a:xfrm>
          <a:prstGeom prst="rect">
            <a:avLst/>
          </a:prstGeom>
          <a:solidFill>
            <a:srgbClr val="1E88E5"/>
          </a:solidFill>
          <a:ln>
            <a:solidFill>
              <a:srgbClr val="1E88E5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Escalar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variables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86200" y="2148840"/>
            <a:ext cx="2011680" cy="1005840"/>
          </a:xfrm>
          <a:prstGeom prst="rect">
            <a:avLst/>
          </a:prstGeom>
          <a:solidFill>
            <a:srgbClr val="F39C12"/>
          </a:solidFill>
          <a:ln>
            <a:solidFill>
              <a:srgbClr val="F39C12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Elegir 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 entrenar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86600" y="2148840"/>
            <a:ext cx="1828800" cy="1005840"/>
          </a:xfrm>
          <a:prstGeom prst="rect">
            <a:avLst/>
          </a:prstGeom>
          <a:solidFill>
            <a:srgbClr val="2EAD4B"/>
          </a:solidFill>
          <a:ln>
            <a:solidFill>
              <a:srgbClr val="2EAD4B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Perfilar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clusters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3886200"/>
            <a:ext cx="2651760" cy="777240"/>
          </a:xfrm>
          <a:prstGeom prst="rect">
            <a:avLst/>
          </a:prstGeom>
          <a:solidFill>
            <a:srgbClr val="EAF4FF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Por qué escalar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Ingresos en euros no deben dominar a número de compras.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06240" y="3886200"/>
            <a:ext cx="2651760" cy="777240"/>
          </a:xfrm>
          <a:prstGeom prst="rect">
            <a:avLst/>
          </a:prstGeom>
          <a:solidFill>
            <a:srgbClr val="EEF6F8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Por qué elegir k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K-Means siempre encuentra k grupos, aunque no tengan sentido.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60920" y="3886200"/>
            <a:ext cx="2926080" cy="777240"/>
          </a:xfrm>
          <a:prstGeom prst="rect">
            <a:avLst/>
          </a:prstGeom>
          <a:solidFill>
            <a:srgbClr val="EAF4FF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Por qué perfilar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El valor está en explicar quiénes son los grupos y qué acción tomar.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Data Analyst · Mayo 2026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311128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IV · Silhouette y PCA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96012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600200" y="7498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Evaluar calidad y visualizar grupos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Silhouette score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23160"/>
            <a:ext cx="4023360" cy="0"/>
          </a:xfrm>
          <a:prstGeom prst="line">
            <a:avLst/>
          </a:prstGeom>
          <a:noFill/>
          <a:ln w="76200">
            <a:solidFill>
              <a:srgbClr val="D9E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7004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</a:rPr>
              <a:t>-1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267004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</a:rPr>
              <a:t>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00600" y="267004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69080" y="2267712"/>
            <a:ext cx="310896" cy="310896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337560"/>
            <a:ext cx="2148840" cy="640080"/>
          </a:xfrm>
          <a:prstGeom prst="rect">
            <a:avLst/>
          </a:prstGeom>
          <a:solidFill>
            <a:srgbClr val="EAF4FF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Cerca de 1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Grupos compactos y separados.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3337560"/>
            <a:ext cx="1965960" cy="640080"/>
          </a:xfrm>
          <a:prstGeom prst="rect">
            <a:avLst/>
          </a:prstGeom>
          <a:solidFill>
            <a:srgbClr val="EEF6F8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Cerca de 0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Grupos solapados.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1508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PCA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29400" y="4846320"/>
            <a:ext cx="3840480" cy="0"/>
          </a:xfrm>
          <a:prstGeom prst="line">
            <a:avLst/>
          </a:prstGeom>
          <a:noFill/>
          <a:ln w="12700">
            <a:solidFill>
              <a:srgbClr val="5F6B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29400" y="4846320"/>
            <a:ext cx="0" cy="-2926080"/>
          </a:xfrm>
          <a:prstGeom prst="line">
            <a:avLst/>
          </a:prstGeom>
          <a:noFill/>
          <a:ln w="12700">
            <a:solidFill>
              <a:srgbClr val="5F6B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4206240"/>
            <a:ext cx="164592" cy="16459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3886200"/>
            <a:ext cx="164592" cy="16459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3749040"/>
            <a:ext cx="164592" cy="16459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2834640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81160" y="3063240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23960" y="3246120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2194560"/>
            <a:ext cx="164592" cy="164592"/>
          </a:xfrm>
          <a:prstGeom prst="ellipse">
            <a:avLst/>
          </a:prstGeom>
          <a:solidFill>
            <a:srgbClr val="2EAD4B"/>
          </a:solidFill>
          <a:ln w="12700">
            <a:solidFill>
              <a:srgbClr val="2EAD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2057400"/>
            <a:ext cx="164592" cy="164592"/>
          </a:xfrm>
          <a:prstGeom prst="ellipse">
            <a:avLst/>
          </a:prstGeom>
          <a:solidFill>
            <a:srgbClr val="2EAD4B"/>
          </a:solidFill>
          <a:ln w="12700">
            <a:solidFill>
              <a:srgbClr val="2EAD4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09560" y="2514600"/>
            <a:ext cx="164592" cy="164592"/>
          </a:xfrm>
          <a:prstGeom prst="ellipse">
            <a:avLst/>
          </a:prstGeom>
          <a:solidFill>
            <a:srgbClr val="2EAD4B"/>
          </a:solidFill>
          <a:ln w="12700">
            <a:solidFill>
              <a:srgbClr val="2EAD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5257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</a:rPr>
              <a:t>Reduce muchas variables a 2 dimensiones para visualizar.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Data Analyst · Mayo 2026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311128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AD4B"/>
                </a:solidFill>
              </a:rPr>
              <a:t>Bloque V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Series temporales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forecasting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49808" y="30632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</a:rPr>
              <a:t>Pregunta guía: ¿qué valor esperamos en el futuro?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3474720"/>
            <a:ext cx="3931920" cy="0"/>
          </a:xfrm>
          <a:prstGeom prst="line">
            <a:avLst/>
          </a:prstGeom>
          <a:noFill/>
          <a:ln w="12700">
            <a:solidFill>
              <a:srgbClr val="5F6B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3474720"/>
            <a:ext cx="0" cy="-2103120"/>
          </a:xfrm>
          <a:prstGeom prst="line">
            <a:avLst/>
          </a:prstGeom>
          <a:noFill/>
          <a:ln w="12700">
            <a:solidFill>
              <a:srgbClr val="5F6B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3017520"/>
            <a:ext cx="640080" cy="-457200"/>
          </a:xfrm>
          <a:prstGeom prst="line">
            <a:avLst/>
          </a:prstGeom>
          <a:noFill/>
          <a:ln w="38100">
            <a:solidFill>
              <a:srgbClr val="2EAD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0" y="2560320"/>
            <a:ext cx="640080" cy="320040"/>
          </a:xfrm>
          <a:prstGeom prst="line">
            <a:avLst/>
          </a:prstGeom>
          <a:noFill/>
          <a:ln w="38100">
            <a:solidFill>
              <a:srgbClr val="2EAD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2880360"/>
            <a:ext cx="640080" cy="-594360"/>
          </a:xfrm>
          <a:prstGeom prst="line">
            <a:avLst/>
          </a:prstGeom>
          <a:noFill/>
          <a:ln w="38100">
            <a:solidFill>
              <a:srgbClr val="2EAD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21040" y="2286000"/>
            <a:ext cx="640080" cy="228600"/>
          </a:xfrm>
          <a:prstGeom prst="line">
            <a:avLst/>
          </a:prstGeom>
          <a:noFill/>
          <a:ln w="38100">
            <a:solidFill>
              <a:srgbClr val="2EAD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0" y="2514600"/>
            <a:ext cx="640080" cy="-685800"/>
          </a:xfrm>
          <a:prstGeom prst="line">
            <a:avLst/>
          </a:prstGeom>
          <a:noFill/>
          <a:ln w="38100">
            <a:solidFill>
              <a:srgbClr val="2EAD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0" y="1828800"/>
            <a:ext cx="731520" cy="137160"/>
          </a:xfrm>
          <a:prstGeom prst="line">
            <a:avLst/>
          </a:prstGeom>
          <a:noFill/>
          <a:ln w="38100">
            <a:solidFill>
              <a:srgbClr val="2EAD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85432" y="4572000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19872" y="4572000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354312" y="4572000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588752" y="4572000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669280" y="4343400"/>
            <a:ext cx="1143000" cy="457200"/>
          </a:xfrm>
          <a:prstGeom prst="rect">
            <a:avLst/>
          </a:prstGeom>
          <a:solidFill>
            <a:srgbClr val="1E88E5"/>
          </a:solidFill>
          <a:ln>
            <a:solidFill>
              <a:srgbClr val="1E88E5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Contexto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20–25’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6903720" y="4343400"/>
            <a:ext cx="1143000" cy="457200"/>
          </a:xfrm>
          <a:prstGeom prst="rect">
            <a:avLst/>
          </a:prstGeom>
          <a:solidFill>
            <a:srgbClr val="00A6A6"/>
          </a:solidFill>
          <a:ln>
            <a:solidFill>
              <a:srgbClr val="00A6A6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Técnica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35–45’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8138160" y="4343400"/>
            <a:ext cx="1143000" cy="457200"/>
          </a:xfrm>
          <a:prstGeom prst="rect">
            <a:avLst/>
          </a:prstGeom>
          <a:solidFill>
            <a:srgbClr val="6C63FF"/>
          </a:solidFill>
          <a:ln>
            <a:solidFill>
              <a:srgbClr val="6C63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Demo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45’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9372600" y="4343400"/>
            <a:ext cx="1143000" cy="457200"/>
          </a:xfrm>
          <a:prstGeom prst="rect">
            <a:avLst/>
          </a:prstGeom>
          <a:solidFill>
            <a:srgbClr val="F39C12"/>
          </a:solidFill>
          <a:ln>
            <a:solidFill>
              <a:srgbClr val="F39C12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Práctica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45’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10607040" y="4343400"/>
            <a:ext cx="1143000" cy="457200"/>
          </a:xfrm>
          <a:prstGeom prst="rect">
            <a:avLst/>
          </a:prstGeom>
          <a:solidFill>
            <a:srgbClr val="2EAD4B"/>
          </a:solidFill>
          <a:ln>
            <a:solidFill>
              <a:srgbClr val="2EAD4B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Cierre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15–20’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Data Analyst · Mayo 2026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311128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V · Componentes de una serie temporal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96012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600200" y="7498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Tendencia, estacionalidad, ruido y eventos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Tendencia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834640"/>
            <a:ext cx="3566160" cy="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834640"/>
            <a:ext cx="0" cy="-91440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560320"/>
            <a:ext cx="594360" cy="0"/>
          </a:xfrm>
          <a:prstGeom prst="line">
            <a:avLst/>
          </a:prstGeom>
          <a:noFill/>
          <a:ln w="27940">
            <a:solidFill>
              <a:srgbClr val="1E88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2606040"/>
            <a:ext cx="594360" cy="-137160"/>
          </a:xfrm>
          <a:prstGeom prst="line">
            <a:avLst/>
          </a:prstGeom>
          <a:noFill/>
          <a:ln w="27940">
            <a:solidFill>
              <a:srgbClr val="1E88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2651760"/>
            <a:ext cx="594360" cy="-274320"/>
          </a:xfrm>
          <a:prstGeom prst="line">
            <a:avLst/>
          </a:prstGeom>
          <a:noFill/>
          <a:ln w="27940">
            <a:solidFill>
              <a:srgbClr val="1E88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2697480"/>
            <a:ext cx="594360" cy="-411480"/>
          </a:xfrm>
          <a:prstGeom prst="line">
            <a:avLst/>
          </a:prstGeom>
          <a:noFill/>
          <a:ln w="27940">
            <a:solidFill>
              <a:srgbClr val="1E88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743200"/>
            <a:ext cx="594360" cy="-548640"/>
          </a:xfrm>
          <a:prstGeom prst="line">
            <a:avLst/>
          </a:prstGeom>
          <a:noFill/>
          <a:ln w="2794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Estacionalidad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2834640"/>
            <a:ext cx="3566160" cy="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2834640"/>
            <a:ext cx="0" cy="-91440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560320"/>
            <a:ext cx="594360" cy="-502920"/>
          </a:xfrm>
          <a:prstGeom prst="line">
            <a:avLst/>
          </a:prstGeom>
          <a:noFill/>
          <a:ln w="27940">
            <a:solidFill>
              <a:srgbClr val="00A6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2560320"/>
            <a:ext cx="594360" cy="228600"/>
          </a:xfrm>
          <a:prstGeom prst="line">
            <a:avLst/>
          </a:prstGeom>
          <a:noFill/>
          <a:ln w="27940">
            <a:solidFill>
              <a:srgbClr val="00A6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60920" y="2560320"/>
            <a:ext cx="594360" cy="-502920"/>
          </a:xfrm>
          <a:prstGeom prst="line">
            <a:avLst/>
          </a:prstGeom>
          <a:noFill/>
          <a:ln w="27940">
            <a:solidFill>
              <a:srgbClr val="00A6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0" y="2560320"/>
            <a:ext cx="594360" cy="228600"/>
          </a:xfrm>
          <a:prstGeom prst="line">
            <a:avLst/>
          </a:prstGeom>
          <a:noFill/>
          <a:ln w="27940">
            <a:solidFill>
              <a:srgbClr val="00A6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49640" y="2560320"/>
            <a:ext cx="594360" cy="-502920"/>
          </a:xfrm>
          <a:prstGeom prst="line">
            <a:avLst/>
          </a:prstGeom>
          <a:noFill/>
          <a:ln w="27940">
            <a:solidFill>
              <a:srgbClr val="00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Ruido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8680" y="4892040"/>
            <a:ext cx="3566160" cy="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892040"/>
            <a:ext cx="0" cy="-91440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617720"/>
            <a:ext cx="594360" cy="-182880"/>
          </a:xfrm>
          <a:prstGeom prst="line">
            <a:avLst/>
          </a:prstGeom>
          <a:noFill/>
          <a:ln w="27940">
            <a:solidFill>
              <a:srgbClr val="F39C1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63040" y="4617720"/>
            <a:ext cx="594360" cy="91440"/>
          </a:xfrm>
          <a:prstGeom prst="line">
            <a:avLst/>
          </a:prstGeom>
          <a:noFill/>
          <a:ln w="27940">
            <a:solidFill>
              <a:srgbClr val="F39C1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57400" y="4617720"/>
            <a:ext cx="594360" cy="-548640"/>
          </a:xfrm>
          <a:prstGeom prst="line">
            <a:avLst/>
          </a:prstGeom>
          <a:noFill/>
          <a:ln w="27940">
            <a:solidFill>
              <a:srgbClr val="F39C1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51760" y="4617720"/>
            <a:ext cx="594360" cy="45720"/>
          </a:xfrm>
          <a:prstGeom prst="line">
            <a:avLst/>
          </a:prstGeom>
          <a:noFill/>
          <a:ln w="27940">
            <a:solidFill>
              <a:srgbClr val="F39C1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4617720"/>
            <a:ext cx="594360" cy="-320040"/>
          </a:xfrm>
          <a:prstGeom prst="line">
            <a:avLst/>
          </a:prstGeom>
          <a:noFill/>
          <a:ln w="2794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Eventos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2200" y="4892040"/>
            <a:ext cx="3566160" cy="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4892040"/>
            <a:ext cx="0" cy="-91440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4617720"/>
            <a:ext cx="594360" cy="-228600"/>
          </a:xfrm>
          <a:prstGeom prst="line">
            <a:avLst/>
          </a:prstGeom>
          <a:noFill/>
          <a:ln w="27940">
            <a:solidFill>
              <a:srgbClr val="D645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0" y="4617720"/>
            <a:ext cx="594360" cy="-228600"/>
          </a:xfrm>
          <a:prstGeom prst="line">
            <a:avLst/>
          </a:prstGeom>
          <a:noFill/>
          <a:ln w="27940">
            <a:solidFill>
              <a:srgbClr val="D645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60920" y="4617720"/>
            <a:ext cx="594360" cy="-228600"/>
          </a:xfrm>
          <a:prstGeom prst="line">
            <a:avLst/>
          </a:prstGeom>
          <a:noFill/>
          <a:ln w="27940">
            <a:solidFill>
              <a:srgbClr val="D645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4617720"/>
            <a:ext cx="594360" cy="-777240"/>
          </a:xfrm>
          <a:prstGeom prst="line">
            <a:avLst/>
          </a:prstGeom>
          <a:noFill/>
          <a:ln w="27940">
            <a:solidFill>
              <a:srgbClr val="D645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49640" y="4617720"/>
            <a:ext cx="594360" cy="-228600"/>
          </a:xfrm>
          <a:prstGeom prst="line">
            <a:avLst/>
          </a:prstGeom>
          <a:noFill/>
          <a:ln w="27940">
            <a:solidFill>
              <a:srgbClr val="D645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Data Analyst · Mayo 2026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311128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V · De serie temporal a forecasting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96012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600200" y="7498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Variables temporales + baselines + modelo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57400" y="2514600"/>
            <a:ext cx="960120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800600" y="2514600"/>
            <a:ext cx="960120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543800" y="2514600"/>
            <a:ext cx="960120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68680" y="2057400"/>
            <a:ext cx="1188720" cy="914400"/>
          </a:xfrm>
          <a:prstGeom prst="rect">
            <a:avLst/>
          </a:prstGeom>
          <a:solidFill>
            <a:srgbClr val="1E88E5"/>
          </a:solidFill>
          <a:ln>
            <a:solidFill>
              <a:srgbClr val="1E88E5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Serie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ordenada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2057400"/>
            <a:ext cx="1737360" cy="914400"/>
          </a:xfrm>
          <a:prstGeom prst="rect">
            <a:avLst/>
          </a:prstGeom>
          <a:solidFill>
            <a:srgbClr val="00A6A6"/>
          </a:solidFill>
          <a:ln>
            <a:solidFill>
              <a:srgbClr val="00A6A6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Lags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medias móviles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06440" y="2057400"/>
            <a:ext cx="1737360" cy="914400"/>
          </a:xfrm>
          <a:prstGeom prst="rect">
            <a:avLst/>
          </a:prstGeom>
          <a:solidFill>
            <a:srgbClr val="6C63FF"/>
          </a:solidFill>
          <a:ln>
            <a:solidFill>
              <a:srgbClr val="6C63FF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Train/Test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temporal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49640" y="2057400"/>
            <a:ext cx="1645920" cy="914400"/>
          </a:xfrm>
          <a:prstGeom prst="rect">
            <a:avLst/>
          </a:prstGeom>
          <a:solidFill>
            <a:srgbClr val="2EAD4B"/>
          </a:solidFill>
          <a:ln>
            <a:solidFill>
              <a:srgbClr val="2EAD4B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Forecast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 métricas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840480"/>
            <a:ext cx="2560320" cy="749808"/>
          </a:xfrm>
          <a:prstGeom prst="rect">
            <a:avLst/>
          </a:prstGeom>
          <a:solidFill>
            <a:srgbClr val="EAF4FF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Variables lag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lag_1, lag_7, lag_14: valores pasados como predictores.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3840480"/>
            <a:ext cx="2560320" cy="749808"/>
          </a:xfrm>
          <a:prstGeom prst="rect">
            <a:avLst/>
          </a:prstGeom>
          <a:solidFill>
            <a:srgbClr val="EEF6F8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Baselines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Naive y media móvil: el modelo avanzado debe superarlos.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3840480"/>
            <a:ext cx="2560320" cy="749808"/>
          </a:xfrm>
          <a:prstGeom prst="rect">
            <a:avLst/>
          </a:prstGeom>
          <a:solidFill>
            <a:srgbClr val="EAF4FF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Evaluación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MAE, RMSE y gráfico real vs predicción.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Data Analyst · Mayo 2026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311128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· Qué debe saber explicar el alumnado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96012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600200" y="74980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La entrega final no es solo código: es razonamiento analítico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2011680" cy="822960"/>
          </a:xfrm>
          <a:prstGeom prst="rect">
            <a:avLst/>
          </a:prstGeom>
          <a:solidFill>
            <a:srgbClr val="EAF4FF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Bloque I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Qué contiene el dataset y qué patrones aparecen.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71800" y="1417320"/>
            <a:ext cx="2011680" cy="822960"/>
          </a:xfrm>
          <a:prstGeom prst="rect">
            <a:avLst/>
          </a:prstGeom>
          <a:solidFill>
            <a:srgbClr val="EEF6F8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Bloque II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Qué modelo predice mejor valores continuos y por qué.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0" y="1417320"/>
            <a:ext cx="2148840" cy="822960"/>
          </a:xfrm>
          <a:prstGeom prst="rect">
            <a:avLst/>
          </a:prstGeom>
          <a:solidFill>
            <a:srgbClr val="EAF4FF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Bloque III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Qué errores comete el clasificador y qué umbral conviene.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06640" y="1417320"/>
            <a:ext cx="2011680" cy="822960"/>
          </a:xfrm>
          <a:prstGeom prst="rect">
            <a:avLst/>
          </a:prstGeom>
          <a:solidFill>
            <a:srgbClr val="EEF6F8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Bloque IV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Qué segmentos existen y qué acción propone cada uno.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55480" y="1417320"/>
            <a:ext cx="1828800" cy="822960"/>
          </a:xfrm>
          <a:prstGeom prst="rect">
            <a:avLst/>
          </a:prstGeom>
          <a:solidFill>
            <a:srgbClr val="EAF4FF"/>
          </a:solidFill>
          <a:ln w="6350">
            <a:solidFill>
              <a:srgbClr val="D9E3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Bloque V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Qué demanda esperamos y qué tan fiable es el forecast.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Checklist para cada notebook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3794760"/>
            <a:ext cx="32004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2733"/>
                </a:solidFill>
              </a:rPr>
              <a:t>✓ código ejecutable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733"/>
                </a:solidFill>
              </a:rPr>
              <a:t>✓ gráficos legibles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733"/>
                </a:solidFill>
              </a:rPr>
              <a:t>✓ métricas interpretadas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733"/>
                </a:solidFill>
              </a:rPr>
              <a:t>✓ decisiones justificadas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733"/>
                </a:solidFill>
              </a:rPr>
              <a:t>✓ conclusiones de negocio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16752" y="4389120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251192" y="4389120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485632" y="4389120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720072" y="4389120"/>
            <a:ext cx="73152" cy="0"/>
          </a:xfrm>
          <a:prstGeom prst="line">
            <a:avLst/>
          </a:prstGeom>
          <a:noFill/>
          <a:ln w="20320">
            <a:solidFill>
              <a:srgbClr val="D9E3F0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800600" y="4160520"/>
            <a:ext cx="1143000" cy="457200"/>
          </a:xfrm>
          <a:prstGeom prst="rect">
            <a:avLst/>
          </a:prstGeom>
          <a:solidFill>
            <a:srgbClr val="1E88E5"/>
          </a:solidFill>
          <a:ln>
            <a:solidFill>
              <a:srgbClr val="1E88E5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Contexto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20–25’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6035040" y="4160520"/>
            <a:ext cx="1143000" cy="457200"/>
          </a:xfrm>
          <a:prstGeom prst="rect">
            <a:avLst/>
          </a:prstGeom>
          <a:solidFill>
            <a:srgbClr val="00A6A6"/>
          </a:solidFill>
          <a:ln>
            <a:solidFill>
              <a:srgbClr val="00A6A6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Técnica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35–45’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7269480" y="4160520"/>
            <a:ext cx="1143000" cy="457200"/>
          </a:xfrm>
          <a:prstGeom prst="rect">
            <a:avLst/>
          </a:prstGeom>
          <a:solidFill>
            <a:srgbClr val="6C63FF"/>
          </a:solidFill>
          <a:ln>
            <a:solidFill>
              <a:srgbClr val="6C63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Demo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45’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8503920" y="4160520"/>
            <a:ext cx="1143000" cy="457200"/>
          </a:xfrm>
          <a:prstGeom prst="rect">
            <a:avLst/>
          </a:prstGeom>
          <a:solidFill>
            <a:srgbClr val="F39C12"/>
          </a:solidFill>
          <a:ln>
            <a:solidFill>
              <a:srgbClr val="F39C12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Práctica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45’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9738360" y="4160520"/>
            <a:ext cx="1143000" cy="457200"/>
          </a:xfrm>
          <a:prstGeom prst="rect">
            <a:avLst/>
          </a:prstGeom>
          <a:solidFill>
            <a:srgbClr val="2EAD4B"/>
          </a:solidFill>
          <a:ln>
            <a:solidFill>
              <a:srgbClr val="2EAD4B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Cierre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15–20’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Data Analyst · Mayo 2026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311128" y="6446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B7A"/>
                </a:solidFill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Analyst Mayo 2026 - Transparencias</dc:title>
  <dc:subject>Data Analyst Mayo 2026 - Transparencias explicación</dc:subject>
  <dc:creator>OpenAI</dc:creator>
  <cp:lastModifiedBy>OpenAI</cp:lastModifiedBy>
  <cp:revision>1</cp:revision>
  <dcterms:created xsi:type="dcterms:W3CDTF">2026-04-27T11:24:09Z</dcterms:created>
  <dcterms:modified xsi:type="dcterms:W3CDTF">2026-04-27T11:24:09Z</dcterms:modified>
</cp:coreProperties>
</file>